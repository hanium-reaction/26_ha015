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86557fb9884499" /><Relationship Type="http://schemas.openxmlformats.org/officeDocument/2006/relationships/extended-properties" Target="/docProps/app.xml" Id="R414f661962a44a7e" /><Relationship Type="http://schemas.openxmlformats.org/officeDocument/2006/relationships/officeDocument" Target="/ppt/presentation.xml" Id="R285d792776b746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e951061e8d4877"/>
  </p:sldMasterIdLst>
  <p:notesMasterIdLst>
    <p:notesMasterId xmlns:r="http://schemas.openxmlformats.org/officeDocument/2006/relationships" r:id="R1a988bcdb08a4f43"/>
  </p:notesMasterIdLst>
  <p:sldIdLst>
    <p:sldId xmlns:r="http://schemas.openxmlformats.org/officeDocument/2006/relationships" id="256" r:id="R905aff5c267846a9"/>
    <p:sldId xmlns:r="http://schemas.openxmlformats.org/officeDocument/2006/relationships" id="257" r:id="R1664458f835f4c88"/>
    <p:sldId xmlns:r="http://schemas.openxmlformats.org/officeDocument/2006/relationships" id="258" r:id="R586939d45a244c81"/>
    <p:sldId xmlns:r="http://schemas.openxmlformats.org/officeDocument/2006/relationships" id="259" r:id="R070eb54a5d7c45ae"/>
    <p:sldId xmlns:r="http://schemas.openxmlformats.org/officeDocument/2006/relationships" id="260" r:id="R1ad9bff703da4e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f3134ef0e342c7" /><Relationship Type="http://schemas.openxmlformats.org/officeDocument/2006/relationships/slideMaster" Target="/ppt/slideMasters/slideMaster1.xml" Id="Rb4e951061e8d4877" /><Relationship Type="http://schemas.openxmlformats.org/officeDocument/2006/relationships/notesMaster" Target="/ppt/notesMasters/notesMaster1.xml" Id="R1a988bcdb08a4f43" /><Relationship Type="http://schemas.openxmlformats.org/officeDocument/2006/relationships/presProps" Target="/ppt/presProps.xml" Id="R8b7bef3386b84d86" /><Relationship Type="http://schemas.openxmlformats.org/officeDocument/2006/relationships/tableStyles" Target="/ppt/tableStyles.xml" Id="R053ea68d17da4b14" /><Relationship Type="http://schemas.openxmlformats.org/officeDocument/2006/relationships/slide" Target="/ppt/slides/slide1.xml" Id="R905aff5c267846a9" /><Relationship Type="http://schemas.openxmlformats.org/officeDocument/2006/relationships/slide" Target="/ppt/slides/slide2.xml" Id="R1664458f835f4c88" /><Relationship Type="http://schemas.openxmlformats.org/officeDocument/2006/relationships/slide" Target="/ppt/slides/slide3.xml" Id="R586939d45a244c81" /><Relationship Type="http://schemas.openxmlformats.org/officeDocument/2006/relationships/slide" Target="/ppt/slides/slide4.xml" Id="R070eb54a5d7c45ae" /><Relationship Type="http://schemas.openxmlformats.org/officeDocument/2006/relationships/slide" Target="/ppt/slides/slide5.xml" Id="R1ad9bff703da4e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3fde1d182b43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0a0a10ecad4af9" /><Relationship Type="http://schemas.openxmlformats.org/officeDocument/2006/relationships/notesMaster" Target="/ppt/notesMasters/notesMaster1.xml" Id="R11245cca684749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8647512acc45c7" /><Relationship Type="http://schemas.openxmlformats.org/officeDocument/2006/relationships/notesMaster" Target="/ppt/notesMasters/notesMaster1.xml" Id="Rf6d56bde376d44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fda2dac9484058" /><Relationship Type="http://schemas.openxmlformats.org/officeDocument/2006/relationships/notesMaster" Target="/ppt/notesMasters/notesMaster1.xml" Id="Rda1b55ab413949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11b249b99b49ba" /><Relationship Type="http://schemas.openxmlformats.org/officeDocument/2006/relationships/notesMaster" Target="/ppt/notesMasters/notesMaster1.xml" Id="R6d50d5a8d12f45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93f477f0b74b12" /><Relationship Type="http://schemas.openxmlformats.org/officeDocument/2006/relationships/notesMaster" Target="/ppt/notesMasters/notesMaster1.xml" Id="R72c06e8d003746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C:/Users/user/reaction-frontend/src/screens/SystemIntroScreen.tsx (accessed 2026-08-18)</a:t>
            </a:r>
          </a:p>
          <a:p xmlns:a="http://schemas.openxmlformats.org/drawingml/2006/main">
            <a:r>
              <a:t>- C:/Users/user/reaction-frontend/src/components/HeroTaskCard.tsx (accessed 2026-08-18)</a:t>
            </a:r>
          </a:p>
          <a:p xmlns:a="http://schemas.openxmlformats.org/drawingml/2006/main">
            <a:r>
              <a:t>- C:/Users/user/reaction-frontend/src/index.css (accessed 2026-08-18)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[QA]</a:t>
            </a:r>
          </a:p>
          <a:p xmlns:a="http://schemas.openxmlformats.org/drawingml/2006/main">
            <a:r>
              <a:t>- Browser capture QA: mcp__node_repl__js browser-client initialization failed on Windows with `apply deny-read ACLs`; standalone Playwright was not used. Visuals are source-code-based reconstructions, not deployed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C:/Users/user/reaction-frontend/src/screens/TodayScreen.tsx (accessed 2026-08-18)</a:t>
            </a:r>
          </a:p>
          <a:p xmlns:a="http://schemas.openxmlformats.org/drawingml/2006/main">
            <a:r>
              <a:t>- C:/Users/user/reaction-frontend/src/components/HeroTaskCard.tsx (accessed 2026-08-18)</a:t>
            </a:r>
          </a:p>
          <a:p xmlns:a="http://schemas.openxmlformats.org/drawingml/2006/main">
            <a:r>
              <a:t>- C:/Users/user/reaction-frontend/src/screens/RecoveryScreen.tsx (accessed 2026-08-18)</a:t>
            </a:r>
          </a:p>
          <a:p xmlns:a="http://schemas.openxmlformats.org/drawingml/2006/main">
            <a:r>
              <a:t>- C:/Users/user/reaction-frontend/src/screens/WeeklyReviewScreen.tsx (accessed 2026-08-18)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[QA]</a:t>
            </a:r>
          </a:p>
          <a:p xmlns:a="http://schemas.openxmlformats.org/drawingml/2006/main">
            <a:r>
              <a:t>- Browser capture QA: mcp__node_repl__js browser-client initialization failed on Windows with `apply deny-read ACLs`; standalone Playwright was not used. Visuals are source-code-based reconstructions, not deployed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C:/Users/user/reaction-frontend/src/components/AiDraftCard.tsx (accessed 2026-08-18)</a:t>
            </a:r>
          </a:p>
          <a:p xmlns:a="http://schemas.openxmlformats.org/drawingml/2006/main">
            <a:r>
              <a:t>- C:/Users/user/reaction-frontend/src/screens/GoalClassificationScreen.tsx (accessed 2026-08-18)</a:t>
            </a:r>
          </a:p>
          <a:p xmlns:a="http://schemas.openxmlformats.org/drawingml/2006/main">
            <a:r>
              <a:t>- C:/Users/user/reaction-frontend/src/screens/WeeklyPlanGenerationScreen.tsx (accessed 2026-08-18)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[QA]</a:t>
            </a:r>
          </a:p>
          <a:p xmlns:a="http://schemas.openxmlformats.org/drawingml/2006/main">
            <a:r>
              <a:t>- Browser capture QA: mcp__node_repl__js browser-client initialization failed on Windows with `apply deny-read ACLs`; standalone Playwright was not used. Visuals are source-code-based reconstructions, not deployed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C:/Users/user/reaction-frontend/src/screens/SystemIntroScreen.tsx (accessed 2026-08-18)</a:t>
            </a:r>
          </a:p>
          <a:p xmlns:a="http://schemas.openxmlformats.org/drawingml/2006/main">
            <a:r>
              <a:t>- C:/Users/user/reaction-frontend/src/screens/RecoveryScreen.tsx (accessed 2026-08-18)</a:t>
            </a:r>
          </a:p>
          <a:p xmlns:a="http://schemas.openxmlformats.org/drawingml/2006/main">
            <a:r>
              <a:t>- C:/Users/user/reaction-frontend/src/components/RecoveryOptionCard.tsx (accessed 2026-08-18)</a:t>
            </a:r>
          </a:p>
          <a:p xmlns:a="http://schemas.openxmlformats.org/drawingml/2006/main">
            <a:r>
              <a:t>- C:/Users/user/reaction-frontend/src/screens/RecoveredScreen.tsx (accessed 2026-08-18)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[QA]</a:t>
            </a:r>
          </a:p>
          <a:p xmlns:a="http://schemas.openxmlformats.org/drawingml/2006/main">
            <a:r>
              <a:t>- Browser capture QA: mcp__node_repl__js browser-client initialization failed on Windows with `apply deny-read ACLs`; standalone Playwright was not used. Visuals are source-code-based reconstructions, not deployed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C:/Users/user/reaction-frontend/src/screens/WeeklyReviewScreen.tsx (accessed 2026-08-18)</a:t>
            </a:r>
          </a:p>
          <a:p xmlns:a="http://schemas.openxmlformats.org/drawingml/2006/main">
            <a:r>
              <a:t>- C:/Users/user/reaction-frontend/src/screens/WeeklyCalendarScreen.tsx (accessed 2026-08-18)</a:t>
            </a:r>
          </a:p>
          <a:p xmlns:a="http://schemas.openxmlformats.org/drawingml/2006/main">
            <a:r>
              <a:t>- C:/Users/user/reaction-frontend/src/index.css (accessed 2026-08-18)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[QA]</a:t>
            </a:r>
          </a:p>
          <a:p xmlns:a="http://schemas.openxmlformats.org/drawingml/2006/main">
            <a:r>
              <a:t>- Browser capture QA: mcp__node_repl__js browser-client initialization failed on Windows with `apply deny-read ACLs`; standalone Playwright was not used. Visuals are source-code-based reconstructions, not deployed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a6b9aa05934e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5599ff02c1404f" /><Relationship Type="http://schemas.openxmlformats.org/officeDocument/2006/relationships/slideLayout" Target="/ppt/slideLayouts/slideLayout1.xml" Id="Rfc330d03fb6b46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330d03fb6b46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57e7bdcd14daf" /><Relationship Type="http://schemas.openxmlformats.org/officeDocument/2006/relationships/image" Target="/ppt/media/image.png" Id="Rbadd93dcf86e44c0" /><Relationship Type="http://schemas.openxmlformats.org/officeDocument/2006/relationships/notesSlide" Target="/ppt/notesSlides/notesSlide1.xml" Id="Rded4c30015754f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851bcafa649f8" /><Relationship Type="http://schemas.openxmlformats.org/officeDocument/2006/relationships/image" Target="/ppt/media/image2.png" Id="Rad5f8870df2e4218" /><Relationship Type="http://schemas.openxmlformats.org/officeDocument/2006/relationships/notesSlide" Target="/ppt/notesSlides/notesSlide2.xml" Id="Rae1c12a8c69448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4fde4dcea4c04" /><Relationship Type="http://schemas.openxmlformats.org/officeDocument/2006/relationships/image" Target="/ppt/media/image3.png" Id="R8a4aee89b22f4966" /><Relationship Type="http://schemas.openxmlformats.org/officeDocument/2006/relationships/notesSlide" Target="/ppt/notesSlides/notesSlide3.xml" Id="Rff49020f9f8243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16b9855b14fdd" /><Relationship Type="http://schemas.openxmlformats.org/officeDocument/2006/relationships/image" Target="/ppt/media/image4.png" Id="Rd91c5a445a464bcd" /><Relationship Type="http://schemas.openxmlformats.org/officeDocument/2006/relationships/notesSlide" Target="/ppt/notesSlides/notesSlide4.xml" Id="R4442e9be7fe94b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ab828dbdc472d" /><Relationship Type="http://schemas.openxmlformats.org/officeDocument/2006/relationships/image" Target="/ppt/media/image5.png" Id="R939630b614c64501" /><Relationship Type="http://schemas.openxmlformats.org/officeDocument/2006/relationships/notesSlide" Target="/ppt/notesSlides/notesSlide5.xml" Id="R5b60e56da0744a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84DA8-851F-4702-8B6D-C5A8EF58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3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Re</a:t>
            </a:r>
            <a:r>
              <a:rPr sz="1350" b="1">
                <a:solidFill>
                  <a:srgbClr val="E26D4E"/>
                </a:solidFill>
                <a:latin typeface="Pretendard Variable"/>
                <a:ea typeface="Pretendard Variable"/>
                <a:cs typeface="Pretendard Variable"/>
              </a:rPr>
              <a:t>:</a:t>
            </a:r>
            <a:r>
              <a:rPr sz="13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5EDF9-A1F1-4A22-977E-73E053D7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19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900" b="1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rPr>
              <a:t>01 · 문제 정의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15834-0401-429D-B47C-6B481B17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F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7AB06-25D0-473E-BC21-240279C2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825" b="0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rPr>
              <a:t>Re:Action · 제품 설명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8DC86-562E-47F0-B1CC-7F338633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90428-5F92-4F56-80CA-80B0E077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97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실행 회복을 설계하는 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CDACA-23DC-4A31-A479-01293443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19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0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0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40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계획이 실패해도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40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40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의지 문제로 끝내지 않습니다.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68587-9F62-4FCC-B92A-532D805A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6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6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rPr>
              <a:t>Re:Action은 멈춘 이유를 기억하고,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6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6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rPr>
              <a:t>다음에 더 잘 맞는 행동으로 연결합니다.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458E8-FD09-4E6E-ABAF-CDFF917B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666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FE3"/>
          </a:solidFill>
          <a:ln xmlns:a="http://schemas.openxmlformats.org/drawingml/2006/main" w="9525">
            <a:solidFill>
              <a:srgbClr val="B4DF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DF805-369F-4563-B6D5-E60CD24C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3F7048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900" b="1">
                <a:solidFill>
                  <a:srgbClr val="3F7048"/>
                </a:solidFill>
                <a:latin typeface="Pretendard Variable"/>
                <a:ea typeface="Pretendard Variable"/>
                <a:cs typeface="Pretendard Variable"/>
              </a:rPr>
              <a:t>완료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34C4D-7117-44D7-9B7E-034AF72B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781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F2EC"/>
          </a:solidFill>
          <a:ln xmlns:a="http://schemas.openxmlformats.org/drawingml/2006/main" w="9525">
            <a:solidFill>
              <a:srgbClr val="F4B89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A6543-1378-43B7-9F80-F42BDF15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7197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900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일부만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EFD9E-318B-4CDC-AE88-111B9ABB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62450"/>
            <a:ext cx="838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EE2"/>
          </a:solidFill>
          <a:ln xmlns:a="http://schemas.openxmlformats.org/drawingml/2006/main" w="9525">
            <a:solidFill>
              <a:srgbClr val="D4C7A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42D115-564B-4D50-A666-C57CEE56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71975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900" b="1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rPr>
              <a:t>잘 안됨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4689F-0FDF-4FA2-A2B6-B5A21091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D3729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200" b="1">
                <a:solidFill>
                  <a:srgbClr val="3D3729"/>
                </a:solidFill>
                <a:latin typeface="Pretendard Variable"/>
                <a:ea typeface="Pretendard Variable"/>
                <a:cs typeface="Pretendard Variable"/>
              </a:rPr>
              <a:t>어느 상태든 기록으로 남고, 회복 흐름이 이어집니다.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119EC6-AFD8-4859-819B-03A07DCA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47700"/>
            <a:ext cx="3162300" cy="5524500"/>
          </a:xfrm>
          <a:prstGeom xmlns:a="http://schemas.openxmlformats.org/drawingml/2006/main" prst="roundRect">
            <a:avLst>
              <a:gd name="adj" fmla="val 9036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E8DF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d93dcf86e44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8150" y="742950"/>
            <a:ext cx="2971800" cy="5334000"/>
          </a:xfrm>
          <a:prstGeom xmlns:a="http://schemas.openxmlformats.org/drawingml/2006/main" prst="roundRect">
            <a:avLst>
              <a:gd name="adj" fmla="val 6410"/>
            </a:avLst>
          </a:prstGeom>
        </p:spPr>
      </p:pic>
    </p:spTree>
    <p:extLst>
      <p:ext uri="{BB962C8B-B14F-4D97-AF65-F5344CB8AC3E}">
        <p14:creationId xmlns:p14="http://schemas.microsoft.com/office/powerpoint/2010/main" val="678649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E72BC7-0F3E-48C4-977C-E2DF1A50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3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Re</a:t>
            </a:r>
            <a:r>
              <a:rPr sz="1350" b="1">
                <a:solidFill>
                  <a:srgbClr val="E26D4E"/>
                </a:solidFill>
                <a:latin typeface="Pretendard Variable"/>
                <a:ea typeface="Pretendard Variable"/>
                <a:cs typeface="Pretendard Variable"/>
              </a:rPr>
              <a:t>:</a:t>
            </a:r>
            <a:r>
              <a:rPr sz="13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63EA4-E7DC-4DC2-9CDD-D772DBEF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19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900" b="1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rPr>
              <a:t>02 · 핵심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49D74-22E8-4A98-B57D-4756C7E5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F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389E6-455D-4477-B8D9-2CA9826F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825" b="0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rPr>
              <a:t>Re:Action · 제품 설명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2CEA2-9631-442E-B192-A25EB9AE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7F82E-330A-438A-A37D-4C5837DE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3200400" cy="56007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E8DF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f8870df2e4218"/>
          <a:srcRect xmlns:a="http://schemas.openxmlformats.org/drawingml/2006/main" l="72" t="0" r="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762000"/>
            <a:ext cx="3009900" cy="5410200"/>
          </a:xfrm>
          <a:prstGeom xmlns:a="http://schemas.openxmlformats.org/drawingml/2006/main" prst="roundRect">
            <a:avLst>
              <a:gd name="adj" fmla="val 632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3872E-9CC0-464F-9D58-8546714C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87630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97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실패 이후까지 닫힌 루프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DC991-4E9E-487F-9B94-5E553B1D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238250"/>
            <a:ext cx="6381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8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360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계획 → 실행 → 기록 → 회복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360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→ 다시 계획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B4973-A7F5-4A4C-90B0-71FE6AAA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33650"/>
            <a:ext cx="638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6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6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rPr>
              <a:t>지금 할 일은 하나로 좁히고,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6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6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rPr>
              <a:t>결과는 다음 선택의 근거로 남깁니다.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E9E69-A561-4416-9761-EE82206C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52850"/>
            <a:ext cx="0" cy="165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4B89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46214-4DB9-4B13-A22F-6B0A6ECF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29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472F"/>
          </a:solidFill>
          <a:ln xmlns:a="http://schemas.openxmlformats.org/drawingml/2006/main" w="9525">
            <a:solidFill>
              <a:srgbClr val="9E47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D1747-2CEF-4695-852C-FB83BBD5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194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1">
                <a:solidFill>
                  <a:srgbClr val="FFFCF6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675" b="1">
                <a:solidFill>
                  <a:srgbClr val="FFFCF6"/>
                </a:solidFill>
                <a:latin typeface="Pretendard Variable"/>
                <a:ea typeface="Pretendard Variable"/>
                <a:cs typeface="Pretendard Variable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22FB6-9489-4493-BB8B-A6F246DB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90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200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계획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50F95-FFD0-431D-9374-77B274A6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38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975" b="0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rPr>
              <a:t>목표를 주간 블록으로 구성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04BF9-E4B2-45DF-9789-AF51CDD8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14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472F"/>
          </a:solidFill>
          <a:ln xmlns:a="http://schemas.openxmlformats.org/drawingml/2006/main" w="9525">
            <a:solidFill>
              <a:srgbClr val="9E47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AB1B0C-F0BF-4C7A-9071-D1B2036C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052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1">
                <a:solidFill>
                  <a:srgbClr val="FFFCF6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675" b="1">
                <a:solidFill>
                  <a:srgbClr val="FFFCF6"/>
                </a:solidFill>
                <a:latin typeface="Pretendard Variable"/>
                <a:ea typeface="Pretendard Variable"/>
                <a:cs typeface="Pretendard Variable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EFE27-A1DC-42C4-845C-BC616BE8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76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200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실행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921EBD-E3A2-4EE8-9266-C3DFBFCC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24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975" b="0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rPr>
              <a:t>오늘의 다음 한 개에 집중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0E28CF-7D9F-450E-B713-AB3F356B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00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472F"/>
          </a:solidFill>
          <a:ln xmlns:a="http://schemas.openxmlformats.org/drawingml/2006/main" w="9525">
            <a:solidFill>
              <a:srgbClr val="9E47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F51B16-5E53-49CA-86A4-7D628477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910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1">
                <a:solidFill>
                  <a:srgbClr val="FFFCF6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675" b="1">
                <a:solidFill>
                  <a:srgbClr val="FFFCF6"/>
                </a:solidFill>
                <a:latin typeface="Pretendard Variable"/>
                <a:ea typeface="Pretendard Variable"/>
                <a:cs typeface="Pretendard Variable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6887AD-EF7E-4EC7-9282-47BB518E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762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200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기록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162E0A-AF13-4517-9BC2-5B283DA6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975" b="0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rPr>
              <a:t>완료 · 일부만 · 잘 안됨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467997-EC4A-42A3-A2C6-FCAF1FED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29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472F"/>
          </a:solidFill>
          <a:ln xmlns:a="http://schemas.openxmlformats.org/drawingml/2006/main" w="9525">
            <a:solidFill>
              <a:srgbClr val="9E472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75A56F-AFED-4EF2-93F9-28972857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194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1">
                <a:solidFill>
                  <a:srgbClr val="FFFCF6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675" b="1">
                <a:solidFill>
                  <a:srgbClr val="FFFCF6"/>
                </a:solidFill>
                <a:latin typeface="Pretendard Variable"/>
                <a:ea typeface="Pretendard Variable"/>
                <a:cs typeface="Pretendard Variable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2DC257-E4E5-440F-981A-965EBA40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90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200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회복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57CED5-C956-496D-9433-FD70F035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38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975" b="0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rPr>
              <a:t>실패 이유에 맞는 다음 행동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4C4ECF-F36A-4A58-B8FE-3B302656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14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472F"/>
          </a:solidFill>
          <a:ln xmlns:a="http://schemas.openxmlformats.org/drawingml/2006/main" w="9525">
            <a:solidFill>
              <a:srgbClr val="9E472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88EB2E-323F-4F3A-8387-71989184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052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1">
                <a:solidFill>
                  <a:srgbClr val="FFFCF6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675" b="1">
                <a:solidFill>
                  <a:srgbClr val="FFFCF6"/>
                </a:solidFill>
                <a:latin typeface="Pretendard Variable"/>
                <a:ea typeface="Pretendard Variable"/>
                <a:cs typeface="Pretendard Variable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1BFFDF-F49C-488E-9EEA-1BC0F382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76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200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학습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E77FFB-EE47-41D9-A4E7-FEDD0748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24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975" b="0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rPr>
              <a:t>주간 리뷰에서 패턴 확인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6FE686-581C-4E81-92AD-FBA5FF7F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00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472F"/>
          </a:solidFill>
          <a:ln xmlns:a="http://schemas.openxmlformats.org/drawingml/2006/main" w="9525">
            <a:solidFill>
              <a:srgbClr val="9E472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D48686-912F-438A-97CA-ADF7214D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910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1">
                <a:solidFill>
                  <a:srgbClr val="FFFCF6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675" b="1">
                <a:solidFill>
                  <a:srgbClr val="FFFCF6"/>
                </a:solidFill>
                <a:latin typeface="Pretendard Variable"/>
                <a:ea typeface="Pretendard Variable"/>
                <a:cs typeface="Pretendard Variable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35F438-A581-40E9-86D9-7D1AD442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200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재계획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30986B-4744-4CB7-8BC4-15E546BC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10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975" b="0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rPr>
              <a:t>다음 주 계획으로 되돌림</a:t>
            </a:r>
          </a:p>
        </p:txBody>
      </p:sp>
    </p:spTree>
    <p:extLst>
      <p:ext uri="{BB962C8B-B14F-4D97-AF65-F5344CB8AC3E}">
        <p14:creationId xmlns:p14="http://schemas.microsoft.com/office/powerpoint/2010/main" val="13391813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8BB214-B091-4931-88B6-0EA5B924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3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Re</a:t>
            </a:r>
            <a:r>
              <a:rPr sz="1350" b="1">
                <a:solidFill>
                  <a:srgbClr val="E26D4E"/>
                </a:solidFill>
                <a:latin typeface="Pretendard Variable"/>
                <a:ea typeface="Pretendard Variable"/>
                <a:cs typeface="Pretendard Variable"/>
              </a:rPr>
              <a:t>:</a:t>
            </a:r>
            <a:r>
              <a:rPr sz="13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4C201-6A7E-4AFA-A36D-9F699355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19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900" b="1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rPr>
              <a:t>03 · 사용자 통제형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92B5F-F484-47B7-938B-8B770DC6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F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64B89-3717-452D-9818-52B97CE7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825" b="0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rPr>
              <a:t>Re:Action · 제품 설명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B03BE-AF8B-42B9-8A3E-504A30D1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C004B-64AB-40BF-B142-55340835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97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점선은 ‘AI 초안’의 약속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4265F-F7A7-42C6-B2F4-4184FD38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191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7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37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AI가 먼저 제안하되,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7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37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최종 결정은 사용자가 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94F2A-5138-4B8E-B989-308CBE38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6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6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rPr>
              <a:t>수락하기 전까지는 확정하지 않고,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6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6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rPr>
              <a:t>수정과 재생성 경로를 같은 화면에 둡니다.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ADE93-9074-4258-9EB5-4F10F363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2EC"/>
          </a:solidFill>
          <a:ln xmlns:a="http://schemas.openxmlformats.org/drawingml/2006/main" w="9525">
            <a:solidFill>
              <a:srgbClr val="F4B89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1A6C2-61DF-4919-A987-2723B884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1B05E-4FF7-4165-9C97-9B6DBF49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520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275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점선 = 초안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19D15A-DB95-4C83-B575-79C3356B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520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0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rPr>
              <a:t>AI가 만든 결과임을 시각적으로 고정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72802-1C55-41B3-AB48-C68031A1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2EC"/>
          </a:solidFill>
          <a:ln xmlns:a="http://schemas.openxmlformats.org/drawingml/2006/main" w="9525">
            <a:solidFill>
              <a:srgbClr val="F4B89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7F709-A7C2-4A0E-AA83-2FD23D53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938E7-9905-4D5F-B310-F306A76C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520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275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세 갈래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ECC60-7A27-4A05-8632-A24DFD58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520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0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rPr>
              <a:t>수락 · 수정 · 재생성을 같은 위계로 제공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BB529-CA5D-4D29-9D67-46D1A21D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2EC"/>
          </a:solidFill>
          <a:ln xmlns:a="http://schemas.openxmlformats.org/drawingml/2006/main" w="9525">
            <a:solidFill>
              <a:srgbClr val="F4B89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5B4624-0F9C-4445-8F7D-73ED6B9E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A1398D-5679-4A2A-9648-170B6D99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53050"/>
            <a:ext cx="520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275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룰 기반도 명시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54FF32-BF10-467C-83C9-A2BBB637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0"/>
            <a:ext cx="520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0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rPr>
              <a:t>AI 호출이 어려우면 오프라인 모드를 구분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C144D9-0F55-4129-B3A9-D3214182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09600"/>
            <a:ext cx="3238500" cy="5657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E8DF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aee89b22f4966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704850"/>
            <a:ext cx="3048000" cy="5467350"/>
          </a:xfrm>
          <a:prstGeom xmlns:a="http://schemas.openxmlformats.org/drawingml/2006/main" prst="roundRect">
            <a:avLst>
              <a:gd name="adj" fmla="val 6250"/>
            </a:avLst>
          </a:prstGeom>
        </p:spPr>
      </p:pic>
    </p:spTree>
    <p:extLst>
      <p:ext uri="{BB962C8B-B14F-4D97-AF65-F5344CB8AC3E}">
        <p14:creationId xmlns:p14="http://schemas.microsoft.com/office/powerpoint/2010/main" val="6325146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8A7374-E2FE-4CBA-87A5-6FB62DCC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3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Re</a:t>
            </a:r>
            <a:r>
              <a:rPr sz="1350" b="1">
                <a:solidFill>
                  <a:srgbClr val="E26D4E"/>
                </a:solidFill>
                <a:latin typeface="Pretendard Variable"/>
                <a:ea typeface="Pretendard Variable"/>
                <a:cs typeface="Pretendard Variable"/>
              </a:rPr>
              <a:t>:</a:t>
            </a:r>
            <a:r>
              <a:rPr sz="13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5687D-3E0C-436D-BCCF-FCC7A937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19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900" b="1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rPr>
              <a:t>04 · 대표 회복 시나리오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C014C-9C21-4562-93D8-0C1B02C7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F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673F7-48EE-42AB-A671-A1DCC5B5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825" b="0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rPr>
              <a:t>Re:Action · 제품 설명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53859-1388-4D48-91D7-FCFD13E5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497A7-5E38-41AF-BB54-811ADE4C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"/>
            <a:ext cx="3276600" cy="5734050"/>
          </a:xfrm>
          <a:prstGeom xmlns:a="http://schemas.openxmlformats.org/drawingml/2006/main" prst="roundRect">
            <a:avLst>
              <a:gd name="adj" fmla="val 8721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E8DF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c5a445a464bcd"/>
          <a:srcRect xmlns:a="http://schemas.openxmlformats.org/drawingml/2006/main" l="40" t="0" r="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762000"/>
            <a:ext cx="3086100" cy="5543550"/>
          </a:xfrm>
          <a:prstGeom xmlns:a="http://schemas.openxmlformats.org/drawingml/2006/main" prst="roundRect">
            <a:avLst>
              <a:gd name="adj" fmla="val 617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1477A-E6FB-47BF-BD1D-315F5491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3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Re</a:t>
            </a:r>
            <a:r>
              <a:rPr sz="1350" b="1">
                <a:solidFill>
                  <a:srgbClr val="E26D4E"/>
                </a:solidFill>
                <a:latin typeface="Pretendard Variable"/>
                <a:ea typeface="Pretendard Variable"/>
                <a:cs typeface="Pretendard Variable"/>
              </a:rPr>
              <a:t>:</a:t>
            </a:r>
            <a:r>
              <a:rPr sz="13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AA817-EAC6-4353-9510-1C765FAF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009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97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실패를 끝이 아닌 입력으로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05D4F-312F-4382-BD3F-D9DD73E9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3716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7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37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잘 안된 실행도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7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37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다음 행동으로 남깁니다.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DE199C-C11E-44C7-BEC1-4A5E30DE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43200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6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6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rPr>
              <a:t>‘막막해서 시작 못 함’이라는 기록을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6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6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rPr>
              <a:t>‘딱 3문장만 써보기’로 작게 전환합니다.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24CE8-43DD-48DA-8F73-3FA7D57A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91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2EC"/>
          </a:solidFill>
          <a:ln xmlns:a="http://schemas.openxmlformats.org/drawingml/2006/main" w="9525">
            <a:solidFill>
              <a:srgbClr val="F4B8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6C27C-4B7F-4121-AC63-EFEB1488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005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684DC-EE4F-4DDB-8F0C-512B1804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815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275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멈춘 이유 기록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5F368-9FA6-40B8-A2CF-CC1CD593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48200"/>
            <a:ext cx="539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0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rPr>
              <a:t>사실을 비난 없이 남김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0ED4F-F288-42CD-AD7C-7598901D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57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2EC"/>
          </a:solidFill>
          <a:ln xmlns:a="http://schemas.openxmlformats.org/drawingml/2006/main" w="9525">
            <a:solidFill>
              <a:srgbClr val="F4B89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A6A32-ED07-4D19-8D9B-9D76F7AF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673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40B5C-DFF5-45F8-898D-4BC6DC82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4825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275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회복안 제안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6CCB4-A474-46A1-8728-D219ADE7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14950"/>
            <a:ext cx="539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0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rPr>
              <a:t>작게 시작 · 옮기기 · 보류하기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FFF8B2-CF54-4561-B58E-BA5F9286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245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F2EC"/>
          </a:solidFill>
          <a:ln xmlns:a="http://schemas.openxmlformats.org/drawingml/2006/main" w="9525">
            <a:solidFill>
              <a:srgbClr val="F4B8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4B8E9E-646D-420C-9B09-F8248219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34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0651C8-FF04-4395-88C1-9A4B2A0F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7150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275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사용자 선택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1D8341-3021-4DEF-BCC7-66C3C578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981700"/>
            <a:ext cx="539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0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rPr>
              <a:t>선택한 방법만 일정에 연결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3C39D6-94A4-4314-AA73-DDE1BCFA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5285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F2EC"/>
          </a:solidFill>
          <a:ln xmlns:a="http://schemas.openxmlformats.org/drawingml/2006/main" w="9525">
            <a:solidFill>
              <a:srgbClr val="F4B8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15EB74-4425-4AC1-A89C-14F0AEE2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623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예시 시나리오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CA43A6-2F99-45DB-AB4F-7D0C34E0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95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900" b="0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rPr>
              <a:t>성과·성공률 수치는 사용하지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681010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C66FCD-B7F7-4752-9BDC-A0D9AE0C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3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Re</a:t>
            </a:r>
            <a:r>
              <a:rPr sz="1350" b="1">
                <a:solidFill>
                  <a:srgbClr val="E26D4E"/>
                </a:solidFill>
                <a:latin typeface="Pretendard Variable"/>
                <a:ea typeface="Pretendard Variable"/>
                <a:cs typeface="Pretendard Variable"/>
              </a:rPr>
              <a:t>:</a:t>
            </a:r>
            <a:r>
              <a:rPr sz="13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E04DE-6655-463C-811E-49C70B9B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19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900" b="1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rPr>
              <a:t>05 · 주간 학습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5F2E1-3F82-49E1-A125-9BB462B4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F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27A51-3124-41DE-9F3E-5B136029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825" b="0">
                <a:solidFill>
                  <a:srgbClr val="8A7B5E"/>
                </a:solidFill>
                <a:latin typeface="Pretendard Variable"/>
                <a:ea typeface="Pretendard Variable"/>
                <a:cs typeface="Pretendard Variable"/>
              </a:rPr>
              <a:t>Re:Action · 제품 설명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A3EA1-2B76-4B20-99BC-1C62180E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532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5BF7F-15DC-40ED-B0E5-C8A42E5A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97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실행 기록에서 다음 계획까지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466BA-3782-4D99-9A6B-0AF3F594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381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7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37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하루의 기록이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7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3750" b="1">
                <a:solidFill>
                  <a:srgbClr val="1A1714"/>
                </a:solidFill>
                <a:latin typeface="Pretendard Variable"/>
                <a:ea typeface="Pretendard Variable"/>
                <a:cs typeface="Pretendard Variable"/>
              </a:rPr>
              <a:t>다음 주 계획의 재료가 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C80E7-7E77-4DEF-8F5B-BF3150B0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38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6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6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rPr>
              <a:t>연결된 실제 데이터가 있을 때만 지표를 보여주고,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6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6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rPr>
              <a:t>없으면 빈 상태를 정직하게 안내합니다.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D23C8-F80D-43C5-88BF-29EB5A33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D3729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200" b="1">
                <a:solidFill>
                  <a:srgbClr val="3D3729"/>
                </a:solidFill>
                <a:latin typeface="Pretendard Variable"/>
                <a:ea typeface="Pretendard Variable"/>
                <a:cs typeface="Pretendard Variable"/>
              </a:rPr>
              <a:t>주간 리뷰가 확인하는 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363B7-F938-429E-894D-35402581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EE2"/>
          </a:solidFill>
          <a:ln xmlns:a="http://schemas.openxmlformats.org/drawingml/2006/main" w="9525">
            <a:solidFill>
              <a:srgbClr val="E8DF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887B4-C3B1-427A-A331-AD9127A4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825" b="1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rPr>
              <a:t>준수율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2AFBE-AC34-4403-9E7C-F08AE656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195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0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rPr>
              <a:t>계획 대비 실행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B8948-E9DF-4D47-A153-C9CC1750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F2EC"/>
          </a:solidFill>
          <a:ln xmlns:a="http://schemas.openxmlformats.org/drawingml/2006/main" w="9525">
            <a:solidFill>
              <a:srgbClr val="F4B89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94D972-5053-41F1-AA14-2F77B972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회복률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D7366-F2CF-42CA-BF3B-DDEF3677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863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0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rPr>
              <a:t>막힌 뒤 회복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07321A-8165-4623-8954-E039429C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F2EC"/>
          </a:solidFill>
          <a:ln xmlns:a="http://schemas.openxmlformats.org/drawingml/2006/main" w="9525">
            <a:solidFill>
              <a:srgbClr val="F4B89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250F6-AC94-4CE6-B184-82BD4283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825" b="1">
                <a:solidFill>
                  <a:srgbClr val="9E472F"/>
                </a:solidFill>
                <a:latin typeface="Pretendard Variable"/>
                <a:ea typeface="Pretendard Variable"/>
                <a:cs typeface="Pretendard Variable"/>
              </a:rPr>
              <a:t>재시작률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C30505-DEA7-476F-9E95-1285A4B2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53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0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rPr>
              <a:t>회복 뒤 다시 실행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82DAE0-70D9-436E-965A-BDC01815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EE2"/>
          </a:solidFill>
          <a:ln xmlns:a="http://schemas.openxmlformats.org/drawingml/2006/main" w="9525">
            <a:solidFill>
              <a:srgbClr val="E8DFC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A48DE1-856C-4B40-A273-28510CFF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825" b="1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rPr>
              <a:t>평균 회복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D35F30-5B16-47AA-97DE-42BE450C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619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defRPr>
            </a:pPr>
            <a:r>
              <a:rPr sz="1050" b="0">
                <a:solidFill>
                  <a:srgbClr val="5C5240"/>
                </a:solidFill>
                <a:latin typeface="Pretendard Variable"/>
                <a:ea typeface="Pretendard Variable"/>
                <a:cs typeface="Pretendard Variable"/>
              </a:rPr>
              <a:t>다음 행동까지 걸린 시간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6235E4-EDFE-438B-84AF-12397B09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90550"/>
            <a:ext cx="3238500" cy="5657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E8DF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9630b614c64501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685800"/>
            <a:ext cx="3048000" cy="5467350"/>
          </a:xfrm>
          <a:prstGeom xmlns:a="http://schemas.openxmlformats.org/drawingml/2006/main" prst="roundRect">
            <a:avLst>
              <a:gd name="adj" fmla="val 6250"/>
            </a:avLst>
          </a:prstGeom>
        </p:spPr>
      </p:pic>
    </p:spTree>
    <p:extLst>
      <p:ext uri="{BB962C8B-B14F-4D97-AF65-F5344CB8AC3E}">
        <p14:creationId xmlns:p14="http://schemas.microsoft.com/office/powerpoint/2010/main" val="10561605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2026-08-18T03:10:50.1390000Z</dcterms:created>
  <dcterms:modified xsi:type="dcterms:W3CDTF">2026-08-18T03:10:50.1390000Z</dcterms:modified>
</coreProperties>
</file>